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5c72ac4-f709-80a8-2493-8b03b3a0445f}">
          <p14:sldIdLst>
            <p14:sldId id="256"/>
            <p14:sldId id="257"/>
          </p14:sldIdLst>
        </p14:section>
        <p14:section name="What changes" id="{0789af2b-8007-d2b4-4940-92203b418583}">
          <p14:sldIdLst>
            <p14:sldId id="258"/>
            <p14:sldId id="259"/>
          </p14:sldIdLst>
        </p14:section>
        <p14:section name="Hubs" id="{7fcfb76e-8845-c127-5583-e18295467225}">
          <p14:sldIdLst>
            <p14:sldId id="260"/>
            <p14:sldId id="261"/>
            <p14:sldId id="262"/>
            <p14:sldId id="263"/>
          </p14:sldIdLst>
        </p14:section>
        <p14:section name="Requirements" id="{2f2f73a4-844e-7c7f-2702-f1d70101d281}">
          <p14:sldIdLst>
            <p14:sldId id="264"/>
            <p14:sldId id="265"/>
          </p14:sldIdLst>
        </p14:section>
        <p14:section name="Next steps" id="{d4d85e6d-ec9d-380d-74f7-115070a9c7a2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8D8D8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D8D8D8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Showtime revamp: what changes for operations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8D8D8"/>
                </a:solidFill>
              </a:rPr>
              <a:t>New article, home and section pages, built on the CMS as it is today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</a:rPr>
              <a:t>October 2026 · For editorial, operations and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Executive summary</a:t>
            </a:r>
            <a:endParaRPr lang="en-US" sz="2600" dirty="0"/>
          </a:p>
        </p:txBody>
      </p:sp>
      <p:sp>
        <p:nvSpPr>
          <p:cNvPr id="3" name="dot_1_0.5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FB008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258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41414"/>
                </a:solidFill>
              </a:rPr>
              <a:t>The redesign only changes the website template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A5A5A"/>
                </a:solidFill>
              </a:rPr>
              <a:t>All 3,470 migrated articles appear in the new design with no editing.</a:t>
            </a:r>
            <a:endParaRPr lang="en-US" sz="1700" dirty="0"/>
          </a:p>
        </p:txBody>
      </p:sp>
      <p:sp>
        <p:nvSpPr>
          <p:cNvPr id="6" name="dot_2_0.5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FB008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1488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41414"/>
                </a:solidFill>
              </a:rPr>
              <a:t>The CMS stays as it is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A5A5A"/>
                </a:solidFill>
              </a:rPr>
              <a:t>Every page, hub and top story uses fields editors already fill in.</a:t>
            </a:r>
            <a:endParaRPr lang="en-US" sz="1700" dirty="0"/>
          </a:p>
        </p:txBody>
      </p:sp>
      <p:sp>
        <p:nvSpPr>
          <p:cNvPr id="9" name="dot_3_0.5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FB008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9718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41414"/>
                </a:solidFill>
              </a:rPr>
              <a:t>Show and sports hubs need no new tools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A5A5A"/>
                </a:solidFill>
              </a:rPr>
              <a:t>Editors create a subcategory, the same way True AF2026 was set up.</a:t>
            </a:r>
            <a:endParaRPr lang="en-US" sz="1700" dirty="0"/>
          </a:p>
        </p:txBody>
      </p:sp>
      <p:sp>
        <p:nvSpPr>
          <p:cNvPr id="12" name="dot_4_0.5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FB008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94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141414"/>
                </a:solidFill>
              </a:rPr>
              <a:t>Four decisions unblock launch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A5A5A"/>
                </a:solidFill>
              </a:rPr>
              <a:t>Permissions, hub settings owner, one-time tagging, and use of the recommended flag.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Every part of the new pages comes from a field the CMS already stores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A5A5A"/>
                          </a:solidFill>
                        </a:rPr>
                        <a:t>On the new site</a:t>
                      </a:r>
                      <a:endParaRPr lang="en-US" sz="12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A5A5A"/>
                          </a:solidFill>
                        </a:rPr>
                        <a:t>CMS field used</a:t>
                      </a:r>
                      <a:endParaRPr lang="en-US" sz="12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A5A5A"/>
                          </a:solidFill>
                        </a:rPr>
                        <a:t>Filled in today</a:t>
                      </a:r>
                      <a:endParaRPr lang="en-US" sz="12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</a:rPr>
                        <a:t>Headline, lead sentence, body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title, short_description, content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Every article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</a:rPr>
                        <a:t>Cover image and thumbnails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image_cover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Every article with a cover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</a:rPr>
                        <a:t>Section, subsection, hub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category, subcategory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Every article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</a:rPr>
                        <a:t>Date and "newest first" order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published_at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Every article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</a:rPr>
                        <a:t>Home page top stories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recommended (yes/no)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22 articles flagged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</a:rPr>
                        <a:t>Hub description and image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subcategory meta description, background image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75% of articles' subcategories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ource"/>
          <p:cNvSpPr txBox="1"/>
          <p:nvPr/>
        </p:nvSpPr>
        <p:spPr>
          <a:xfrm>
            <a:off x="457200" y="4727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Source: Showtime CMS export, 1 Jan – 27 Oct 2026 (3,787 articles; 3,470 after dropping TV listings and legal pages).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Old articles migrate unchanged; the template fixes legacy formatting when it shows them</a:t>
            </a:r>
            <a:endParaRPr lang="en-US" sz="2600" dirty="0"/>
          </a:p>
        </p:txBody>
      </p:sp>
      <p:sp>
        <p:nvSpPr>
          <p:cNvPr id="3" name="stat_0"/>
          <p:cNvSpPr/>
          <p:nvPr/>
        </p:nvSpPr>
        <p:spPr>
          <a:xfrm>
            <a:off x="457200" y="1417320"/>
            <a:ext cx="2596896" cy="3017520"/>
          </a:xfrm>
          <a:prstGeom prst="roundRect">
            <a:avLst>
              <a:gd name="adj" fmla="val 4225"/>
            </a:avLst>
          </a:prstGeom>
          <a:solidFill>
            <a:srgbClr val="FFF0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008D"/>
                </a:solidFill>
              </a:rPr>
              <a:t>76%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</a:rPr>
              <a:t>of articles contain empty spacer paragraphs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2231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Hidden on display, so gaps between paragraphs stay even</a:t>
            </a:r>
            <a:endParaRPr lang="en-US" sz="1300" dirty="0"/>
          </a:p>
        </p:txBody>
      </p:sp>
      <p:sp>
        <p:nvSpPr>
          <p:cNvPr id="7" name="stat_1"/>
          <p:cNvSpPr/>
          <p:nvPr/>
        </p:nvSpPr>
        <p:spPr>
          <a:xfrm>
            <a:off x="3273552" y="1417320"/>
            <a:ext cx="2596896" cy="301752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56432" y="160020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008D"/>
                </a:solidFill>
              </a:rPr>
              <a:t>10%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251460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</a:rPr>
              <a:t>have a summary that repeats the first paragraph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56432" y="3291840"/>
            <a:ext cx="2231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The lead sentence is skipped on those, so nothing reads twice</a:t>
            </a:r>
            <a:endParaRPr lang="en-US" sz="1300" dirty="0"/>
          </a:p>
        </p:txBody>
      </p:sp>
      <p:sp>
        <p:nvSpPr>
          <p:cNvPr id="11" name="stat_2"/>
          <p:cNvSpPr/>
          <p:nvPr/>
        </p:nvSpPr>
        <p:spPr>
          <a:xfrm>
            <a:off x="6089904" y="1417320"/>
            <a:ext cx="2596896" cy="301752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72784" y="160020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008D"/>
                </a:solidFill>
              </a:rPr>
              <a:t>&lt;1%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272784" y="251460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</a:rPr>
              <a:t>carry inline styling from the old editor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3291840"/>
            <a:ext cx="2231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The new design overrides it; 15 articles in total</a:t>
            </a:r>
            <a:endParaRPr lang="en-US" sz="1300" dirty="0"/>
          </a:p>
        </p:txBody>
      </p:sp>
      <p:sp>
        <p:nvSpPr>
          <p:cNvPr id="15" name="source"/>
          <p:cNvSpPr txBox="1"/>
          <p:nvPr/>
        </p:nvSpPr>
        <p:spPr>
          <a:xfrm>
            <a:off x="457200" y="4727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Source: Showtime CMS export, 3,470 articles. Nothing in the stored articles is changed; fixes apply only when a page is shown.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Show and sports hubs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8D8D8"/>
                </a:solidFill>
              </a:rPr>
              <a:t>One page per show or competition, filled and rotated automatically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hub is a CMS subcategory plus a few settings; the site builds the rest</a:t>
            </a:r>
            <a:endParaRPr lang="en-US" sz="2600" dirty="0"/>
          </a:p>
        </p:txBody>
      </p:sp>
      <p:sp>
        <p:nvSpPr>
          <p:cNvPr id="3" name="step_0"/>
          <p:cNvSpPr/>
          <p:nvPr/>
        </p:nvSpPr>
        <p:spPr>
          <a:xfrm>
            <a:off x="457200" y="146304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0F7"/>
          </a:solidFill>
          <a:ln/>
        </p:spPr>
      </p:sp>
      <p:sp>
        <p:nvSpPr>
          <p:cNvPr id="4" name="dot_1_0.7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FB00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</a:rPr>
              <a:t>Create a subcategory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For example "The Voice Thailand 2027" under Entertainment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5146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A5A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tep_1"/>
          <p:cNvSpPr/>
          <p:nvPr/>
        </p:nvSpPr>
        <p:spPr>
          <a:xfrm>
            <a:off x="2560320" y="146304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0F7"/>
          </a:solidFill>
          <a:ln/>
        </p:spPr>
      </p:sp>
      <p:sp>
        <p:nvSpPr>
          <p:cNvPr id="10" name="dot_2_3"/>
          <p:cNvSpPr/>
          <p:nvPr/>
        </p:nvSpPr>
        <p:spPr>
          <a:xfrm>
            <a:off x="2743200" y="1645920"/>
            <a:ext cx="457200" cy="457200"/>
          </a:xfrm>
          <a:prstGeom prst="ellipse">
            <a:avLst/>
          </a:prstGeom>
          <a:solidFill>
            <a:srgbClr val="FB008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2402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</a:rPr>
              <a:t>Add name, description and image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9260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Using the subcategory fields the CMS already has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5146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A5A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tep_2"/>
          <p:cNvSpPr/>
          <p:nvPr/>
        </p:nvSpPr>
        <p:spPr>
          <a:xfrm>
            <a:off x="4663440" y="146304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0F7"/>
          </a:solidFill>
          <a:ln/>
        </p:spPr>
      </p:sp>
      <p:sp>
        <p:nvSpPr>
          <p:cNvPr id="16" name="dot_3_5.3"/>
          <p:cNvSpPr/>
          <p:nvPr/>
        </p:nvSpPr>
        <p:spPr>
          <a:xfrm>
            <a:off x="4846320" y="1645920"/>
            <a:ext cx="457200" cy="457200"/>
          </a:xfrm>
          <a:prstGeom prst="ellipse">
            <a:avLst/>
          </a:prstGeom>
          <a:solidFill>
            <a:srgbClr val="FB008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463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2402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</a:rPr>
              <a:t>Tag articles to it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9260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When publishing, as editors did for True AF2026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5146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A5A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tep_3"/>
          <p:cNvSpPr/>
          <p:nvPr/>
        </p:nvSpPr>
        <p:spPr>
          <a:xfrm>
            <a:off x="6766560" y="146304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5EEFB"/>
          </a:solidFill>
          <a:ln/>
        </p:spPr>
      </p:sp>
      <p:sp>
        <p:nvSpPr>
          <p:cNvPr id="22" name="dot_4_7.6"/>
          <p:cNvSpPr/>
          <p:nvPr/>
        </p:nvSpPr>
        <p:spPr>
          <a:xfrm>
            <a:off x="6949440" y="1645920"/>
            <a:ext cx="457200" cy="457200"/>
          </a:xfrm>
          <a:prstGeom prst="ellipse">
            <a:avLst/>
          </a:prstGeom>
          <a:solidFill>
            <a:srgbClr val="9B3FB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494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22402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</a:rPr>
              <a:t>The site builds the hub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29260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Page, Shows tab, home tile and watch button, with no code change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</a:rPr>
              <a:t>Editors do steps 1 to 3. </a:t>
            </a:r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</a:rPr>
              <a:t>Step 4 is automatic.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Hubs rotate on their own, based on the date of their newest article</a:t>
            </a:r>
            <a:endParaRPr lang="en-US" sz="2600" dirty="0"/>
          </a:p>
        </p:txBody>
      </p:sp>
      <p:sp>
        <p:nvSpPr>
          <p:cNvPr id="3" name="pill_0"/>
          <p:cNvSpPr/>
          <p:nvPr/>
        </p:nvSpPr>
        <p:spPr>
          <a:xfrm>
            <a:off x="457200" y="1417320"/>
            <a:ext cx="2596896" cy="502920"/>
          </a:xfrm>
          <a:prstGeom prst="roundRect">
            <a:avLst>
              <a:gd name="adj" fmla="val 49091"/>
            </a:avLst>
          </a:prstGeom>
          <a:solidFill>
            <a:srgbClr val="FB008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On air · ออกอากาศอยู่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054096" y="148132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A5A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</a:rPr>
              <a:t>Rule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</a:rPr>
              <a:t>New article in the last 14 days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017520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</a:rPr>
              <a:t>Where it appears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</a:rPr>
              <a:t>Home page Shows row, listed first</a:t>
            </a:r>
            <a:endParaRPr lang="en-US" sz="1100" dirty="0"/>
          </a:p>
        </p:txBody>
      </p:sp>
      <p:sp>
        <p:nvSpPr>
          <p:cNvPr id="8" name="pill_1"/>
          <p:cNvSpPr/>
          <p:nvPr/>
        </p:nvSpPr>
        <p:spPr>
          <a:xfrm>
            <a:off x="3273552" y="1417320"/>
            <a:ext cx="2596896" cy="502920"/>
          </a:xfrm>
          <a:prstGeom prst="roundRect">
            <a:avLst>
              <a:gd name="adj" fmla="val 49091"/>
            </a:avLst>
          </a:prstGeom>
          <a:solidFill>
            <a:srgbClr val="9B3FB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73552" y="141732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Season ended · จบซีซันแล้ว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70448" y="148132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A5A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273552" y="2148840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</a:rPr>
              <a:t>Rule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</a:rPr>
              <a:t>No new article for 14 to 90 days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273552" y="3017520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</a:rPr>
              <a:t>Where it appears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</a:rPr>
              <a:t>Home page only if there is room; Shows page</a:t>
            </a:r>
            <a:endParaRPr lang="en-US" sz="1100" dirty="0"/>
          </a:p>
        </p:txBody>
      </p:sp>
      <p:sp>
        <p:nvSpPr>
          <p:cNvPr id="13" name="pill_2"/>
          <p:cNvSpPr/>
          <p:nvPr/>
        </p:nvSpPr>
        <p:spPr>
          <a:xfrm>
            <a:off x="6089904" y="1417320"/>
            <a:ext cx="2596896" cy="502920"/>
          </a:xfrm>
          <a:prstGeom prst="roundRect">
            <a:avLst>
              <a:gd name="adj" fmla="val 49091"/>
            </a:avLst>
          </a:prstGeom>
          <a:solidFill>
            <a:srgbClr val="8A8A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89904" y="141732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Archive · Archive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89904" y="2148840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</a:rPr>
              <a:t>Rule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</a:rPr>
              <a:t>No new article for 90+ days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089904" y="3017520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</a:rPr>
              <a:t>Where it appears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</a:rPr>
              <a:t>Shows page "past seasons" list; links keep working</a:t>
            </a:r>
            <a:endParaRPr lang="en-US" sz="1100" dirty="0"/>
          </a:p>
        </p:txBody>
      </p:sp>
      <p:sp>
        <p:nvSpPr>
          <p:cNvPr id="17" name="override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5EE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</a:rPr>
              <a:t>Manual override: </a:t>
            </a:r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</a:rPr>
              <a:t>editors can still set a status by hand, for example to promote a premiere before its first article.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Sports needs hubs most: Football alone holds 1,191 articles in one subcategory</a:t>
            </a:r>
            <a:endParaRPr lang="en-US" sz="2600" dirty="0"/>
          </a:p>
        </p:txBody>
      </p:sp>
      <p:sp>
        <p:nvSpPr>
          <p:cNvPr id="3" name="football"/>
          <p:cNvSpPr/>
          <p:nvPr/>
        </p:nvSpPr>
        <p:spPr>
          <a:xfrm>
            <a:off x="457200" y="1417320"/>
            <a:ext cx="2743200" cy="3017520"/>
          </a:xfrm>
          <a:prstGeom prst="roundRect">
            <a:avLst>
              <a:gd name="adj" fmla="val 4000"/>
            </a:avLst>
          </a:prstGeom>
          <a:solidFill>
            <a:srgbClr val="FFF0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008D"/>
                </a:solidFill>
              </a:rPr>
              <a:t>1,191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</a:rPr>
              <a:t>Football articles today, with no way to browse by competition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Next largest: Racing 222, Tennis 121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41732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</a:rPr>
              <a:t>Season-long leagues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</a:rPr>
              <a:t>Premier League, Thai League, F1 2026, MotoGP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On air for most of the year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5146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</a:rPr>
              <a:t>Short tournaments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</a:rPr>
              <a:t>Wimbledon, World Cup, Olympics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On air for a few weeks, then archived automatically</a:t>
            </a:r>
            <a:endParaRPr lang="en-US" sz="1600" dirty="0"/>
          </a:p>
        </p:txBody>
      </p:sp>
      <p:sp>
        <p:nvSpPr>
          <p:cNvPr id="9" name="sportsnote"/>
          <p:cNvSpPr/>
          <p:nvPr/>
        </p:nvSpPr>
        <p:spPr>
          <a:xfrm>
            <a:off x="3566160" y="3703320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F5EE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49040" y="3703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</a:rPr>
              <a:t>One difference: </a:t>
            </a:r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</a:rPr>
              <a:t>the watch button points to the live channel or sports package on TrueVisions NOW, not a single title.</a:t>
            </a:r>
            <a:endParaRPr lang="en-US" sz="1300" dirty="0"/>
          </a:p>
        </p:txBody>
      </p:sp>
      <p:sp>
        <p:nvSpPr>
          <p:cNvPr id="11" name="source"/>
          <p:cNvSpPr txBox="1"/>
          <p:nvPr/>
        </p:nvSpPr>
        <p:spPr>
          <a:xfrm>
            <a:off x="457200" y="4727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Source: Showtime CMS export, sports subcategories after dropping TV listings.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CMS covers everything except two settings, which live on the website side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38328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A5A5A"/>
                          </a:solidFill>
                        </a:rPr>
                        <a:t>Need</a:t>
                      </a:r>
                      <a:endParaRPr lang="en-US" sz="12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A5A5A"/>
                          </a:solidFill>
                        </a:rPr>
                        <a:t>Supported in the CMS today?</a:t>
                      </a:r>
                      <a:endParaRPr lang="en-US" sz="12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A5A5A"/>
                          </a:solidFill>
                        </a:rPr>
                        <a:t>Where it lives</a:t>
                      </a:r>
                      <a:endParaRPr lang="en-US" sz="12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</a:rPr>
                        <a:t>Create a show or competition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Yes: categories and subcategories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CMS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</a:rPr>
                        <a:t>Hub name, description, image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Yes: subcategory fields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CMS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</a:rPr>
                        <a:t>Turn a hub off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Yes: published / unpublished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CMS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</a:rPr>
                        <a:t>Editor-picked top stories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Yes: recommended flag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CMS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</a:rPr>
                        <a:t>On air / ended / archive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Not needed: worked out from article dates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Website, automatic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</a:rPr>
                        <a:t>TrueVisions NOW link per hub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No field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Website settings file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</a:rPr>
                        <a:t>Competition belongs to a sport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No: only two category levels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Website settings file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Not possible without new data: "most read" lists (view counts are empty) and topic tags (none stored).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About 140 past show articles need a one-time tag before launch</a:t>
            </a:r>
            <a:endParaRPr lang="en-US" sz="2600" dirty="0"/>
          </a:p>
        </p:txBody>
      </p:sp>
      <p:sp>
        <p:nvSpPr>
          <p:cNvPr id="3" name="mig_0"/>
          <p:cNvSpPr/>
          <p:nvPr/>
        </p:nvSpPr>
        <p:spPr>
          <a:xfrm>
            <a:off x="457200" y="141732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A8A8A"/>
                </a:solidFill>
              </a:rPr>
              <a:t>116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</a:rPr>
              <a:t>True AF2026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Already in its own CMS category</a:t>
            </a:r>
            <a:endParaRPr lang="en-US" sz="1400" dirty="0"/>
          </a:p>
        </p:txBody>
      </p:sp>
      <p:sp>
        <p:nvSpPr>
          <p:cNvPr id="6" name="mig_1"/>
          <p:cNvSpPr/>
          <p:nvPr/>
        </p:nvSpPr>
        <p:spPr>
          <a:xfrm>
            <a:off x="2560320" y="141732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0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4320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008D"/>
                </a:solidFill>
              </a:rPr>
              <a:t>41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240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</a:rPr>
              <a:t>True AF2026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Found by headline keywords</a:t>
            </a:r>
            <a:endParaRPr lang="en-US" sz="1400" dirty="0"/>
          </a:p>
        </p:txBody>
      </p:sp>
      <p:sp>
        <p:nvSpPr>
          <p:cNvPr id="9" name="mig_2"/>
          <p:cNvSpPr/>
          <p:nvPr/>
        </p:nvSpPr>
        <p:spPr>
          <a:xfrm>
            <a:off x="4663440" y="141732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0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008D"/>
                </a:solidFill>
              </a:rPr>
              <a:t>67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240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</a:rPr>
              <a:t>AGT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Found by headline keywords</a:t>
            </a:r>
            <a:endParaRPr lang="en-US" sz="1400" dirty="0"/>
          </a:p>
        </p:txBody>
      </p:sp>
      <p:sp>
        <p:nvSpPr>
          <p:cNvPr id="12" name="mig_3"/>
          <p:cNvSpPr/>
          <p:nvPr/>
        </p:nvSpPr>
        <p:spPr>
          <a:xfrm>
            <a:off x="6766560" y="1417320"/>
            <a:ext cx="1920240" cy="1600200"/>
          </a:xfrm>
          <a:prstGeom prst="roundRect">
            <a:avLst>
              <a:gd name="adj" fmla="val 6857"/>
            </a:avLst>
          </a:prstGeom>
          <a:solidFill>
            <a:srgbClr val="FFF0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008D"/>
                </a:solidFill>
              </a:rPr>
              <a:t>29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2402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</a:rPr>
              <a:t>The Voice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Found by headline keywords</a:t>
            </a:r>
            <a:endParaRPr lang="en-US" sz="1400" dirty="0"/>
          </a:p>
        </p:txBody>
      </p:sp>
      <p:sp>
        <p:nvSpPr>
          <p:cNvPr id="15" name="dot_1_0.5"/>
          <p:cNvSpPr/>
          <p:nvPr/>
        </p:nvSpPr>
        <p:spPr>
          <a:xfrm>
            <a:off x="457200" y="3383280"/>
            <a:ext cx="411480" cy="411480"/>
          </a:xfrm>
          <a:prstGeom prst="ellipse">
            <a:avLst/>
          </a:prstGeom>
          <a:solidFill>
            <a:srgbClr val="FB008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3101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</a:rPr>
              <a:t>Keyword match drafts a list per hub</a:t>
            </a:r>
            <a:endParaRPr lang="en-US" sz="1400" dirty="0"/>
          </a:p>
        </p:txBody>
      </p:sp>
      <p:sp>
        <p:nvSpPr>
          <p:cNvPr id="18" name="dot_2_3.58"/>
          <p:cNvSpPr/>
          <p:nvPr/>
        </p:nvSpPr>
        <p:spPr>
          <a:xfrm>
            <a:off x="3273552" y="3383280"/>
            <a:ext cx="411480" cy="411480"/>
          </a:xfrm>
          <a:prstGeom prst="ellipse">
            <a:avLst/>
          </a:prstGeom>
          <a:solidFill>
            <a:srgbClr val="FB008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73552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822192" y="33101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</a:rPr>
              <a:t>An editor checks the list</a:t>
            </a:r>
            <a:endParaRPr lang="en-US" sz="1400" dirty="0"/>
          </a:p>
        </p:txBody>
      </p:sp>
      <p:sp>
        <p:nvSpPr>
          <p:cNvPr id="21" name="dot_3_6.66"/>
          <p:cNvSpPr/>
          <p:nvPr/>
        </p:nvSpPr>
        <p:spPr>
          <a:xfrm>
            <a:off x="6089904" y="3383280"/>
            <a:ext cx="411480" cy="411480"/>
          </a:xfrm>
          <a:prstGeom prst="ellipse">
            <a:avLst/>
          </a:prstGeom>
          <a:solidFill>
            <a:srgbClr val="FB008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089904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638544" y="33101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</a:rPr>
              <a:t>Bulk-tag the confirmed articles in the CMS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After tagging, the keyword rules are removed and hubs rely only on CMS tags.</a:t>
            </a:r>
            <a:endParaRPr lang="en-US" sz="1300" dirty="0"/>
          </a:p>
        </p:txBody>
      </p:sp>
      <p:sp>
        <p:nvSpPr>
          <p:cNvPr id="25" name="source"/>
          <p:cNvSpPr txBox="1"/>
          <p:nvPr/>
        </p:nvSpPr>
        <p:spPr>
          <a:xfrm>
            <a:off x="457200" y="4727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Source: Showtime CMS export, 1 Jan – 27 Oct 2026 (3,787 articles; 3,470 after dropping TV listings and legal pages).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Next steps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91840"/>
                <a:gridCol w="17373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A5A5A"/>
                          </a:solidFill>
                        </a:rPr>
                        <a:t>Decision</a:t>
                      </a:r>
                      <a:endParaRPr lang="en-US" sz="12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A5A5A"/>
                          </a:solidFill>
                        </a:rPr>
                        <a:t>Why it matters</a:t>
                      </a:r>
                      <a:endParaRPr lang="en-US" sz="12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A5A5A"/>
                          </a:solidFill>
                        </a:rPr>
                        <a:t>Who decides</a:t>
                      </a:r>
                      <a:endParaRPr lang="en-US" sz="12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</a:rPr>
                        <a:t>Can editors create subcategories themselves?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Decides whether new hubs need an admin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CMS owner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</a:rPr>
                        <a:t>Can subcategory images be shown publicly, one per show?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Most subcategories share one generic image today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CMS owner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</a:rPr>
                        <a:t>Who keeps the hub settings file?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Holds NOW links and sport mapping, a few edits per season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Product and web team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</a:rPr>
                        <a:t>Approve the one-time tagging of about 140 articles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The Voice, AGT and part of True AF are not tagged yet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Editorial lead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</a:rPr>
                        <a:t>Use the recommended flag for home top stories?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Gives editors control; today the newest stories are picked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</a:rPr>
                        <a:t>Editorial lead</a:t>
                      </a:r>
                      <a:endParaRPr lang="en-US" sz="1300" dirty="0"/>
                    </a:p>
                  </a:txBody>
                  <a:tcPr marL="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wtime">
  <a:themeElements>
    <a:clrScheme name="Showtime">
      <a:dk1>
        <a:srgbClr val="141414"/>
      </a:dk1>
      <a:lt1>
        <a:srgbClr val="FFFFFF"/>
      </a:lt1>
      <a:dk2>
        <a:srgbClr val="5A5A5A"/>
      </a:dk2>
      <a:lt2>
        <a:srgbClr val="FAFAFA"/>
      </a:lt2>
      <a:accent1>
        <a:srgbClr val="FB008D"/>
      </a:accent1>
      <a:accent2>
        <a:srgbClr val="9B3FB5"/>
      </a:accent2>
      <a:accent3>
        <a:srgbClr val="FFF0F7"/>
      </a:accent3>
      <a:accent4>
        <a:srgbClr val="F5EEFB"/>
      </a:accent4>
      <a:accent5>
        <a:srgbClr val="E2E2E2"/>
      </a:accent5>
      <a:accent6>
        <a:srgbClr val="C2187A"/>
      </a:accent6>
      <a:hlink>
        <a:srgbClr val="C2187A"/>
      </a:hlink>
      <a:folHlink>
        <a:srgbClr val="9B3FB5"/>
      </a:folHlink>
    </a:clrScheme>
    <a:fontScheme name="Showtime">
      <a:majorFont>
        <a:latin typeface="Promp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omp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Showtime revamp: what changes for operations</dc:title>
  <dc:subject>PptxGenJS Presentation</dc:subject>
  <dc:creator>PptxGenJS</dc:creator>
  <cp:lastModifiedBy>PptxGenJS</cp:lastModifiedBy>
  <cp:revision>1</cp:revision>
  <dcterms:created xsi:type="dcterms:W3CDTF">2026-10-29T06:14:40Z</dcterms:created>
  <dcterms:modified xsi:type="dcterms:W3CDTF">2026-10-29T06:14:40Z</dcterms:modified>
</cp:coreProperties>
</file>